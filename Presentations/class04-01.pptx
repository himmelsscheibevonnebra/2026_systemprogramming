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9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27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5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8.xml" ContentType="application/vnd.openxmlformats-officedocument.presentationml.slide+xml"/>
  <Override PartName="/ppt/slides/slide7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ct val="90000"/>
              </a:lnSpc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리눅스 파일과 디렉토리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수업 구성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총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120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2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부 이후 휴식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분을 포함한다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파일 입출력에서 다뤘던 바이트 읽기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쓰기와 이번 시간의 파일 속성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디렉토리 관리를 연결한다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부 파일과 경로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파일 이름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inode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데이터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inode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번호는 같은 파일시스템 안에서만 고유하다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파일을 비교할 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st_dev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st_ino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함께 본다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파일 이름은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inode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필드가 아니다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학생에게 이름 변경이 파일 복사와 어떻게 다른지 먼저 질문한다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https://man7.org/linux/man-pages/man7/inode.7.html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https://man7.org/linux/man-pages/man2/link.2.html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Linux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파일 종류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ls -l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첫 문자는 파일 종류다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확장자는 이름의 일부이며 파일 종류 비트를 바꾸지 않는다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장치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·FIFO·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소켓은 일반 파일과 다른 동작을 가진다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https://man7.org/linux/man-pages/man7/inode.7.html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절대 경로와 상대 경로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예시의 세 경로는 현재 작업 디렉토리가 주어진 조건에서 같은 파일을 가리킨다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중간 디렉토리에는 검색 권한이 필요하다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openat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계열에서는 기준 디렉토리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지정할 수 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https://man7.org/linux/man-pages/man7/path_resolution.7.html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부 파일 속성과 권한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ls -l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출력 읽기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출력은 설명을 위한 예시이며 실제 사용자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그룹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시각은 환경에 따라 달라진다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ls -ld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디렉토리는 디렉토리 자체의 정보를 보여준다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크기를 디렉토리 안의 파일 개수로 해석하지 않는다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https://man7.org/linux/man-pages/man7/inode.7.html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stat, lstat, fstat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공통 반환값은 성공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-1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실패하면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errno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확인한다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lstat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도 경로 중간의 심볼릭 링크는 해석한다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조회 전에 파일 내용을 읽을 권한 자체가 필요한 것은 아니지만 경로 디렉토리의 검색 권한은 필요하다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https://man7.org/linux/man-pages/man2/stat.2.html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struct stat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주요 필드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ctime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생성 시각이 아니다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atime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갱신은 마운트 옵션 등에 영향을 받는다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파일 종류에 따라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st_size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의미가 다르며 심볼릭 링크에서는 저장된 경로 문자열의 길이다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https://man7.org/linux/man-pages/man7/inode.7.html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https://man7.org/linux/man-pages/man2/stat.2.html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mystat: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속성 조회와 파일 종류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핵심 코드 발췌다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완성된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mystat.c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에는 인자 개수 검사와 필요한 헤더가 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lstat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사용하므로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symlink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자체를 구별할 수 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https://man7.org/linux/man-pages/man2/stat.2.html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https://man7.org/linux/man-pages/man7/inode.7.html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접근 권한 비트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여기서는 기본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rwx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비트에 집중한다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set-user-ID, set-group-ID, sticky bit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별도 비트이며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ACL, capability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읽기 전용 마운트도 실제 접근에 영향을 준다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https://man7.org/linux/man-pages/man2/chmod.2.html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https://man7.org/linux/man-pages/man7/path_resolution.7.html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디렉토리의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r, w, 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파일 내용 쓰기와 디렉토리의 이름 변경은 구분한다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파일이 읽기 전용이어도 부모 디렉토리의 권한에 따라 그 이름을 삭제할 수 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sticky bit, ACL, capability,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파일 속성 등 추가 조건이 있을 수 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https://man7.org/linux/man-pages/man7/path_resolution.7.html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https://man7.org/linux/man-pages/man2/unlink.2.html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https://man7.org/linux/man-pages/man2/mkdir.2.html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chmod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umask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셸 명령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C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코드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계산식을 구분해 제시한 개념 예시다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없는 디렉토리에서 생성 권한은 요청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umask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비트를 제거한 값이다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umask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이미 존재하는 파일의 권한을 바꾸지 않는다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https://man7.org/linux/man-pages/man2/chmod.2.html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https://man7.org/linux/man-pages/man2/umask.2.html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실습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파일 속성 확인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실습 폴더 변수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이후 실습에서도 같은 셸에서 이어서 사용한다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명령 실행 직후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echo $?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종료 상태를 확인할 수 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로그에는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inode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실제 숫자를 고정하지 않는다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https://man7.org/linux/man-pages/man2/stat.2.html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https://man7.org/linux/man-pages/man2/chmod.2.html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부 하드 링크와 심볼릭 링크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하드 링크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두 하드 링크 사이에는 원본과 복사본의 구분이 없다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하나의 이름을 통해 내용을 수정하면 다른 이름에서도 같은 파일 내용을 읽는다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https://man7.org/linux/man-pages/man2/link.2.html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https://man7.org/linux/man-pages/man7/inode.7.html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심볼릭 링크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명령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ln -s TARGET LINK_NAME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두 인자 순서를 강조한다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상대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symlink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사용자가 현재 위치를 바꿔도 링크가 놓인 디렉토리를 기준으로 찾는다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https://man7.org/linux/man-pages/man7/symlink.7.html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심볼릭 링크에서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lstat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다른 경로 접근 오류가 없는 실습 조건을 가정한다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페이지의 코드는 두 호출의 차이를 보여주는 개념 발췌이며 실행 가능한 하나의 프로그램은 아니다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https://man7.org/linux/man-pages/man2/stat.2.html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https://man7.org/linux/man-pages/man7/symlink.7.html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실습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2: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이름을 삭제한 뒤 비교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rm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이 실습에서 만든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note.txt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이름만 제거한다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hard.txt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st_nlink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줄어든다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심볼릭 링크 생성은 대상의 하드 링크 수를 늘리지 않는다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https://man7.org/linux/man-pages/man2/link.2.html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https://man7.org/linux/man-pages/man2/unlink.2.html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https://man7.org/linux/man-pages/man7/symlink.7.html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https://man7.org/linux/man-pages/man2/stat.2.html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unlink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열린 파일의 수명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이름을 찾는 경로와 이미 획득한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구분한다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본문은 일반적인 로컬 파일의 개념 모델이다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mmap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등의 참조도 파일의 수명에 영향을 줄 수 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C API unlink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성공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https://man7.org/linux/man-pages/man2/unlink.2.html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부 디렉토리 탐색과 관리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디렉토리 스트림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DIR *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디렉토리 순회를 관리하는 라이브러리 객체다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readdir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d_name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하위 항목의 이름이며 전체 경로가 아니다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DIR *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free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하지 않고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closedir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정리한다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https://man7.org/linux/man-pages/man3/opendir.3.html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https://man7.org/linux/man-pages/man3/readdir.3.html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https://man7.org/linux/man-pages/man3/closedir.3.html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readdir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끝과 오류 구분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핵심 반복문 발췌이며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dir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opendir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성공 후의 포인터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status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으로 초기화한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반복문 안에서 다른 함수가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errno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변경할 수 있으므로 처음 한 번만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으로 만드는 방식은 피한다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https://man7.org/linux/man-pages/man3/readdir.3.html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https://man7.org/linux/man-pages/man3/closedir.3.html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디렉토리 엔트리 처리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이번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mini_ls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..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만 생략하고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.hidden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같은 숨김 파일 이름은 포함한다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재귀 순회는 이번 실습 범위 밖이며 확장할 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symlink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추적 정책과 순환 방지를 추가해야 한다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https://man7.org/linux/man-pages/man3/readdir.3.html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엔트리의 속성 조회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설명용 두 구간을 함께 제시했다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dirfd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반복문 전에 얻고 실패 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closedir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정리한다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fstatat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호출은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readdir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이름을 얻은 반복문 안에서 실행한다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실제 정리 경로는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mini_ls.c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참고한다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fstatat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경로 문자열 조합을 줄여주지만 동시 이름 변경 자체를 막지는 않는다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https://man7.org/linux/man-pages/man2/stat.2.html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디렉토리 생성과 삭제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일반적인 실습에서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EEXIST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이미 존재하는 이름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ENOTEMPTY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비어 있지 않은 디렉토리다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파일을 제거하는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unlink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빈 디렉토리를 제거하는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rmdir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구별한다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https://man7.org/linux/man-pages/man2/mkdir.2.html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https://man7.org/linux/man-pages/man2/rmdir.2.html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https://man7.org/linux/man-pages/man2/umask.2.html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현재 작업 디렉토리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핵심 코드 발췌다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고정 크기 버퍼보다 경로가 길면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getcwd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ERANGE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실패할 수 있으므로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4096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모든 환경의 최대값으로 가정하지 않는다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자식 프로그램의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chdir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부모 셸의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cwd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바꾸지 않는다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https://man7.org/linux/man-pages/man2/chdir.2.html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https://man7.org/linux/man-pages/man3/getcwd.3.html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실습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3: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작은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ls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실행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mini_ls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정렬과 재귀 없이 한 디렉토리의 엔트리를 조회한다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dot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dot-dot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만 건너뛴다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이미 만든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soft.txt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깨진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symlink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여도 속성 조회가 가능하다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strace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구체적인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syscall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이름은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libc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아키텍처에 따라 다를 수 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https://man7.org/linux/man-pages/man3/opendir.3.html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https://man7.org/linux/man-pages/man3/readdir.3.html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https://man7.org/linux/man-pages/man2/stat.2.html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 퀴즈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정답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1.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같은 파일시스템의 같은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inode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내용을 공유한다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2.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대상이 없으면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ENOENT, lstat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링크 자체 조회가 가능하다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3.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이름 검색과 경로 통과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4.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호출 직전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으로 만든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errno. 5.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열린 참조가 파일의 수명을 유지한다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https://man7.org/linux/man-pages/man2/link.2.html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https://man7.org/linux/man-pages/man2/stat.2.html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https://man7.org/linux/man-pages/man7/path_resolution.7.html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https://man7.org/linux/man-pages/man3/readdir.3.html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https://man7.org/linux/man-pages/man2/unlink.2.html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실습 정리와 제출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필수 로그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일반 파일과 디렉토리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하드 링크와 심볼릭 링크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깨진 링크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없는 경로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설명에는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stat/lstat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차이와 디렉토리의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권한을 포함한다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추가 구현은 이름 정렬 또는 숨김 파일 옵션 중 하나를 선택하게 할 수 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lnSpc>
                <a:spcPct val="90000"/>
              </a:lnSpc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 rot="10200">
            <a:off x="-2520" y="5094000"/>
            <a:ext cx="12192120" cy="1800000"/>
          </a:xfrm>
          <a:prstGeom prst="rect">
            <a:avLst/>
          </a:prstGeom>
          <a:solidFill>
            <a:srgbClr val="FFFFFF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685800" y="2076480"/>
            <a:ext cx="108201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CSE232  </a:t>
            </a:r>
            <a:r>
              <a:rPr lang="ko-KR" sz="1729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시스템프로그래밍</a:t>
            </a:r>
            <a:r>
              <a:rPr lang="en-US" sz="1729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(</a:t>
            </a:r>
            <a:r>
              <a:rPr lang="ko-KR" sz="1729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캡스톤디자인</a:t>
            </a:r>
            <a:r>
              <a:rPr lang="en-US" sz="1729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)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685800" y="2600280"/>
            <a:ext cx="108201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250" b="0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4</a:t>
            </a:r>
            <a:r>
              <a:rPr lang="ko-KR" sz="2250" b="0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주차 첫 번째 수업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685800" y="3181320"/>
            <a:ext cx="10820160" cy="16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465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리눅스 파일과</a:t>
            </a:r>
            <a:endParaRPr lang="en-US" sz="4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ko-KR" sz="465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디렉토리</a:t>
            </a:r>
            <a:endParaRPr lang="en-US" sz="4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685800" y="5657760"/>
            <a:ext cx="108201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950" b="0" u="none" strike="noStrike">
                <a:solidFill>
                  <a:srgbClr val="000000"/>
                </a:solidFill>
                <a:effectLst/>
                <a:uFillTx/>
                <a:latin typeface="Noto Sans CJK KR"/>
                <a:ea typeface="Noto Sans CJK KR"/>
              </a:rPr>
              <a:t>경민기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628560" y="6515280"/>
            <a:ext cx="9048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"/>
          <p:cNvPicPr/>
          <p:nvPr/>
        </p:nvPicPr>
        <p:blipFill>
          <a:blip r:embed="rId1"/>
          <a:stretch/>
        </p:blipFill>
        <p:spPr>
          <a:xfrm>
            <a:off x="9360000" y="5657760"/>
            <a:ext cx="2520000" cy="82152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>
            <a:off x="609480" y="7812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수업 구성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360000" y="1620000"/>
            <a:ext cx="11520000" cy="0"/>
          </a:xfrm>
          <a:prstGeom prst="line">
            <a:avLst/>
          </a:prstGeom>
          <a:ln w="38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630000" y="1764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1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부  파일 이름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, inode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와 경로 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· 15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분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630000" y="2538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2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부  파일 속성과 접근 권한 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· 25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분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630000" y="3312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3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부  하드 링크와 심볼릭 링크 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· 25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분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630000" y="4086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4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부  디렉토리 탐색과 관리 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· 30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분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630000" y="4860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확인 퀴즈와 실습 정리 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· 15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분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628560" y="5924520"/>
            <a:ext cx="109342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120</a:t>
            </a: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분 수업 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· 2</a:t>
            </a: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부 후 휴식 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10</a:t>
            </a: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분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>
            <a:off x="609480" y="324000"/>
            <a:ext cx="104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540000" y="21600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3400" b="1" u="none" strike="noStrike">
                <a:solidFill>
                  <a:srgbClr val="173C57"/>
                </a:solidFill>
                <a:effectLst/>
                <a:uFillTx/>
                <a:latin typeface="Noto Sans CJK KR"/>
                <a:ea typeface="Noto Sans CJK KR"/>
              </a:rPr>
              <a:t>1</a:t>
            </a:r>
            <a:r>
              <a:rPr lang="ko-KR" sz="3400" b="1" u="none" strike="noStrike">
                <a:solidFill>
                  <a:srgbClr val="173C57"/>
                </a:solidFill>
                <a:effectLst/>
                <a:uFillTx/>
                <a:latin typeface="Noto Sans CJK KR"/>
                <a:ea typeface="Noto Sans CJK KR"/>
              </a:rPr>
              <a:t>부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ko-KR" sz="3400" b="1" u="none" strike="noStrike">
                <a:solidFill>
                  <a:srgbClr val="173C57"/>
                </a:solidFill>
                <a:effectLst/>
                <a:uFillTx/>
                <a:latin typeface="Noto Sans CJK KR"/>
                <a:ea typeface="Noto Sans CJK KR"/>
              </a:rPr>
              <a:t>파일과 경로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628560" y="6515280"/>
            <a:ext cx="9048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540000" y="357444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ko-KR" sz="2400" b="0" u="none" strike="noStrike">
                <a:solidFill>
                  <a:srgbClr val="999999"/>
                </a:solidFill>
                <a:effectLst/>
                <a:uFillTx/>
                <a:latin typeface="Noto Sans CJK KR"/>
                <a:ea typeface="Noto Sans CJK KR"/>
              </a:rPr>
              <a:t>파일 이름</a:t>
            </a:r>
            <a:r>
              <a:rPr lang="en-US" sz="2400" b="0" u="none" strike="noStrike">
                <a:solidFill>
                  <a:srgbClr val="999999"/>
                </a:solidFill>
                <a:effectLst/>
                <a:uFillTx/>
                <a:latin typeface="Noto Sans CJK KR"/>
                <a:ea typeface="Noto Sans CJK KR"/>
              </a:rPr>
              <a:t>, inode, </a:t>
            </a:r>
            <a:r>
              <a:rPr lang="ko-KR" sz="2400" b="0" u="none" strike="noStrike">
                <a:solidFill>
                  <a:srgbClr val="999999"/>
                </a:solidFill>
                <a:effectLst/>
                <a:uFillTx/>
                <a:latin typeface="Noto Sans CJK KR"/>
                <a:ea typeface="Noto Sans CJK KR"/>
              </a:rPr>
              <a:t>데이터의 관계를 살펴봅니다</a:t>
            </a:r>
            <a:r>
              <a:rPr lang="en-US" sz="2400" b="0" u="none" strike="noStrike">
                <a:solidFill>
                  <a:srgbClr val="99999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400" b="0" u="none" strike="noStrike">
              <a:solidFill>
                <a:srgbClr val="99999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>
            <a:off x="609480" y="7812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파일 이름</a:t>
            </a: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, inode</a:t>
            </a: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와 데이터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360000" y="1620000"/>
            <a:ext cx="11520000" cy="0"/>
          </a:xfrm>
          <a:prstGeom prst="line">
            <a:avLst/>
          </a:prstGeom>
          <a:ln w="38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630000" y="1764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디렉토리 엔트리는 파일 이름과 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inode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번호를 연결한다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630000" y="2538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inode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에는 파일 종류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권한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소유자 등의 정보가 있다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630000" y="3312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일반 파일의 내용은 파일시스템이 관리하는 바이트다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630000" y="4086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같은 파일을 여러 이름으로 참조할 수 있다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>
            <a:off x="609480" y="7812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Linux</a:t>
            </a: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의 파일 종류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360000" y="1620000"/>
            <a:ext cx="11520000" cy="0"/>
          </a:xfrm>
          <a:prstGeom prst="line">
            <a:avLst/>
          </a:prstGeom>
          <a:ln w="38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630000" y="1764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- 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일반 파일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: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텍스트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이미지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실행 파일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630000" y="2538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d 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디렉토리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: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파일 이름과 대상을 연결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630000" y="3312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l 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심볼릭 링크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: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다른 대상을 가리키는 경로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630000" y="4086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c / b 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문자 장치와 블록 장치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630000" y="4860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p / s  FIFO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와 소켓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>
            <a:off x="360000" y="1620000"/>
            <a:ext cx="11520000" cy="0"/>
          </a:xfrm>
          <a:prstGeom prst="line">
            <a:avLst/>
          </a:prstGeom>
          <a:ln w="38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609480" y="7812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절대 경로와 상대 경로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628560" y="1743120"/>
            <a:ext cx="6972120" cy="3996000"/>
          </a:xfrm>
          <a:prstGeom prst="rect">
            <a:avLst/>
          </a:prstGeom>
          <a:noFill/>
          <a:ln w="12600">
            <a:solidFill>
              <a:srgbClr val="8FA4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tIns="90000" rIns="108000" bIns="90000" anchor="t">
            <a:no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/home/student/work/note.txt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# </a:t>
            </a:r>
            <a:r>
              <a:rPr lang="ko-KR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현재 위치</a:t>
            </a: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: /home/student/work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./note.txt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../work/note.txt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pwd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ls -ld . ..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ls -l ./note.txt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7962840" y="174312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절대 경로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7962840" y="215280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에서 시작한다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7962840" y="306720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상대 경로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7962840" y="347652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현재 작업 디렉토리 등을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기준으로 해석한다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7962840" y="439092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특수 이름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7962840" y="480060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은 현재 디렉토리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..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은 부모 디렉토리다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628560" y="5924520"/>
            <a:ext cx="109342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>
            <a:off x="609480" y="324000"/>
            <a:ext cx="104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540000" y="21600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3400" b="1" u="none" strike="noStrike">
                <a:solidFill>
                  <a:srgbClr val="173C57"/>
                </a:solidFill>
                <a:effectLst/>
                <a:uFillTx/>
                <a:latin typeface="Noto Sans CJK KR"/>
                <a:ea typeface="Noto Sans CJK KR"/>
              </a:rPr>
              <a:t>2</a:t>
            </a:r>
            <a:r>
              <a:rPr lang="ko-KR" sz="3400" b="1" u="none" strike="noStrike">
                <a:solidFill>
                  <a:srgbClr val="173C57"/>
                </a:solidFill>
                <a:effectLst/>
                <a:uFillTx/>
                <a:latin typeface="Noto Sans CJK KR"/>
                <a:ea typeface="Noto Sans CJK KR"/>
              </a:rPr>
              <a:t>부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ko-KR" sz="3400" b="1" u="none" strike="noStrike">
                <a:solidFill>
                  <a:srgbClr val="173C57"/>
                </a:solidFill>
                <a:effectLst/>
                <a:uFillTx/>
                <a:latin typeface="Noto Sans CJK KR"/>
                <a:ea typeface="Noto Sans CJK KR"/>
              </a:rPr>
              <a:t>파일 속성과 권한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628560" y="6515280"/>
            <a:ext cx="9048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540000" y="357444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en-US" sz="2400" b="0" u="none" strike="noStrike">
                <a:solidFill>
                  <a:srgbClr val="999999"/>
                </a:solidFill>
                <a:effectLst/>
                <a:uFillTx/>
                <a:latin typeface="Noto Sans CJK KR"/>
                <a:ea typeface="Noto Sans CJK KR"/>
              </a:rPr>
              <a:t>ls</a:t>
            </a:r>
            <a:r>
              <a:rPr lang="ko-KR" sz="2400" b="0" u="none" strike="noStrike">
                <a:solidFill>
                  <a:srgbClr val="999999"/>
                </a:solidFill>
                <a:effectLst/>
                <a:uFillTx/>
                <a:latin typeface="Noto Sans CJK KR"/>
                <a:ea typeface="Noto Sans CJK KR"/>
              </a:rPr>
              <a:t>와 </a:t>
            </a:r>
            <a:r>
              <a:rPr lang="en-US" sz="2400" b="0" u="none" strike="noStrike">
                <a:solidFill>
                  <a:srgbClr val="999999"/>
                </a:solidFill>
                <a:effectLst/>
                <a:uFillTx/>
                <a:latin typeface="Noto Sans CJK KR"/>
                <a:ea typeface="Noto Sans CJK KR"/>
              </a:rPr>
              <a:t>stat</a:t>
            </a:r>
            <a:r>
              <a:rPr lang="ko-KR" sz="2400" b="0" u="none" strike="noStrike">
                <a:solidFill>
                  <a:srgbClr val="999999"/>
                </a:solidFill>
                <a:effectLst/>
                <a:uFillTx/>
                <a:latin typeface="Noto Sans CJK KR"/>
                <a:ea typeface="Noto Sans CJK KR"/>
              </a:rPr>
              <a:t>의 정보를 </a:t>
            </a:r>
            <a:r>
              <a:rPr lang="en-US" sz="2400" b="0" u="none" strike="noStrike">
                <a:solidFill>
                  <a:srgbClr val="999999"/>
                </a:solidFill>
                <a:effectLst/>
                <a:uFillTx/>
                <a:latin typeface="Noto Sans CJK KR"/>
                <a:ea typeface="Noto Sans CJK KR"/>
              </a:rPr>
              <a:t>C </a:t>
            </a:r>
            <a:r>
              <a:rPr lang="ko-KR" sz="2400" b="0" u="none" strike="noStrike">
                <a:solidFill>
                  <a:srgbClr val="999999"/>
                </a:solidFill>
                <a:effectLst/>
                <a:uFillTx/>
                <a:latin typeface="Noto Sans CJK KR"/>
                <a:ea typeface="Noto Sans CJK KR"/>
              </a:rPr>
              <a:t>프로그램에서 읽습니다</a:t>
            </a:r>
            <a:r>
              <a:rPr lang="en-US" sz="2400" b="0" u="none" strike="noStrike">
                <a:solidFill>
                  <a:srgbClr val="99999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400" b="0" u="none" strike="noStrike">
              <a:solidFill>
                <a:srgbClr val="99999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360000" y="1620000"/>
            <a:ext cx="11520000" cy="0"/>
          </a:xfrm>
          <a:prstGeom prst="line">
            <a:avLst/>
          </a:prstGeom>
          <a:ln w="38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609480" y="7812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ls -l </a:t>
            </a: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출력 읽기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628560" y="1743120"/>
            <a:ext cx="6972120" cy="3996000"/>
          </a:xfrm>
          <a:prstGeom prst="rect">
            <a:avLst/>
          </a:prstGeom>
          <a:noFill/>
          <a:ln w="12600">
            <a:solidFill>
              <a:srgbClr val="8FA4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tIns="90000" rIns="108000" bIns="90000" anchor="t">
            <a:no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$ ls -l note.txt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-rw-r----- 2 student lab 4 Sep 21 10:00 note.txt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# </a:t>
            </a:r>
            <a:r>
              <a:rPr lang="ko-KR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유형       </a:t>
            </a: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-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# </a:t>
            </a:r>
            <a:r>
              <a:rPr lang="ko-KR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권한       </a:t>
            </a: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rw- r-- ---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# </a:t>
            </a:r>
            <a:r>
              <a:rPr lang="ko-KR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링크 수    </a:t>
            </a: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# </a:t>
            </a:r>
            <a:r>
              <a:rPr lang="ko-KR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소유자     </a:t>
            </a: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student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# </a:t>
            </a:r>
            <a:r>
              <a:rPr lang="ko-KR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그룹       </a:t>
            </a: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lab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# </a:t>
            </a:r>
            <a:r>
              <a:rPr lang="ko-KR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크기       </a:t>
            </a: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4 bytes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7962840" y="174312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종류와 권한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7962840" y="215280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첫 문자와 다음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9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개 문자를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나누어 읽는다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7962840" y="306720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소유권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7962840" y="347652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사용자와 그룹별로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권한을 구분한다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7962840" y="439092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크기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7962840" y="480060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일반 파일의 크기는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내용의 바이트 수다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628560" y="5924520"/>
            <a:ext cx="109342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출력 예시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: </a:t>
            </a: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계정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그룹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시각은 실행 환경에 따라 달라집니다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>
            <a:off x="609480" y="7812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stat, lstat, fstat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360000" y="1620000"/>
            <a:ext cx="11520000" cy="0"/>
          </a:xfrm>
          <a:prstGeom prst="line">
            <a:avLst/>
          </a:prstGeom>
          <a:ln w="38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30000" y="1782000"/>
            <a:ext cx="1090800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stat(path, &amp;st)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630000" y="2170800"/>
            <a:ext cx="1090800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경로가 가리키는 파일의 속성을 읽는다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마지막 심볼릭 링크를 따라간다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630000" y="3078000"/>
            <a:ext cx="1090800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lstat(path, &amp;st)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630000" y="3466800"/>
            <a:ext cx="1090800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마지막 경로 요소가 심볼릭 링크이면 링크 자체의 속성을 읽는다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630000" y="4374000"/>
            <a:ext cx="1090800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fstat(fd, &amp;st)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630000" y="4762800"/>
            <a:ext cx="1090800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이미 열어 둔 파일 디스크립터로 속성을 읽는다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628560" y="5924520"/>
            <a:ext cx="109342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공통 헤더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: &lt;sys/stat.h&gt; · </a:t>
            </a: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성공 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0, </a:t>
            </a: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실패 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-1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>
            <a:off x="609480" y="7812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struct stat</a:t>
            </a: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의 주요 필드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360000" y="1620000"/>
            <a:ext cx="11520000" cy="0"/>
          </a:xfrm>
          <a:prstGeom prst="line">
            <a:avLst/>
          </a:prstGeom>
          <a:ln w="38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630000" y="1764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st_dev, st_ino: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파일시스템 식별 정보와 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inode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번호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630000" y="2538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st_mode: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파일 종류와 접근 권한 비트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630000" y="3312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st_nlink: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하드 링크 수    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st_uid, st_gid: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소유자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630000" y="4086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st_size: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일반 파일의 바이트 크기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630000" y="4860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st_atime / st_mtime / st_ctime: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접근 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/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내용 수정 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/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상태 변경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628560" y="5924520"/>
            <a:ext cx="109342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ctime</a:t>
            </a: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은 생성 시각이 아니라 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inode </a:t>
            </a: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상태 변경 시각입니다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360000" y="1620000"/>
            <a:ext cx="11520000" cy="0"/>
          </a:xfrm>
          <a:prstGeom prst="line">
            <a:avLst/>
          </a:prstGeom>
          <a:ln w="38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609480" y="7812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mystat: </a:t>
            </a: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속성 조회와 파일 종류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628560" y="1743120"/>
            <a:ext cx="6972120" cy="3996000"/>
          </a:xfrm>
          <a:prstGeom prst="rect">
            <a:avLst/>
          </a:prstGeom>
          <a:noFill/>
          <a:ln w="12600">
            <a:solidFill>
              <a:srgbClr val="8FA4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tIns="90000" rIns="108000" bIns="90000" anchor="t">
            <a:no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struct stat st;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if (lstat(argv[1], &amp;st) == -1) {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    perror(argv[1]);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    return 1;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}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if (S_ISREG(st.st_mode)) puts("regular");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else if (S_ISDIR(st.st_mode)) puts("directory");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else if (S_ISLNK(st.st_mode)) puts("symlink");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printf("inode=%ju links=%ju\n",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       (uintmax_t)st.st_ino,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       (uintmax_t)st.st_nlink);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7962840" y="174312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호출 결과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7962840" y="215280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조회에 성공한 뒤에만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st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의 필드를 사용한다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7962840" y="306720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종류 판정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7962840" y="347652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S_ISREG, S_ISDIR, S_ISLNK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매크로를 사용한다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7962840" y="439092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출력 형식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7962840" y="480060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정수형을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uintmax_t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로 변환해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%ju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로 출력한다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628560" y="5924520"/>
            <a:ext cx="109342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완성 예제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: labs/class04-01/mystat.c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609480" y="7812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접근 권한 비트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360000" y="1620000"/>
            <a:ext cx="11520000" cy="0"/>
          </a:xfrm>
          <a:prstGeom prst="line">
            <a:avLst/>
          </a:prstGeom>
          <a:ln w="38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630000" y="1764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소유자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(u),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그룹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(g),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기타 사용자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(o)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에 각각 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rwx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를 부여한다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630000" y="2538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일반 파일의 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r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은 읽기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, w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는 쓰기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, x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는 실행 권한이다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630000" y="3312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r = 4, w = 2, x = 1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을 더해 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8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진수로 나타낸다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30000" y="4086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0640 = rw-r-----    0755 = rwxr-xr-x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630000" y="4860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st_mode &amp; 0777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로 기본 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rwx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비트만 추출한다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/>
          <p:nvPr/>
        </p:nvSpPr>
        <p:spPr>
          <a:xfrm>
            <a:off x="609480" y="7812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디렉토리의 </a:t>
            </a: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r, w, x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360000" y="1620000"/>
            <a:ext cx="11520000" cy="0"/>
          </a:xfrm>
          <a:prstGeom prst="line">
            <a:avLst/>
          </a:prstGeom>
          <a:ln w="38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630000" y="1782000"/>
            <a:ext cx="1090800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r: </a:t>
            </a: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이름 목록 읽기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630000" y="2170800"/>
            <a:ext cx="1090800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디렉토리 안의 파일 이름을 나열할 수 있다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630000" y="3078000"/>
            <a:ext cx="1090800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x: </a:t>
            </a: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이름 검색과 경로 통과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630000" y="3466800"/>
            <a:ext cx="1090800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이미 아는 이름으로 내부 객체를 찾고 경로를 따라갈 수 있다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630000" y="4374000"/>
            <a:ext cx="1090800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w: </a:t>
            </a: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디렉토리 엔트리 변경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630000" y="4762800"/>
            <a:ext cx="1090800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이름 생성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삭제에는 일반적으로 디렉토리의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w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와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x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가 함께 필요하다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628560" y="5924520"/>
            <a:ext cx="109342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일반 사용자와 기본 권한을 기준으로 관찰합니다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>
            <a:off x="360000" y="1620000"/>
            <a:ext cx="11520000" cy="0"/>
          </a:xfrm>
          <a:prstGeom prst="line">
            <a:avLst/>
          </a:prstGeom>
          <a:ln w="38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609480" y="7812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chmod</a:t>
            </a: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와 </a:t>
            </a: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umask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628560" y="1743120"/>
            <a:ext cx="6972120" cy="3996000"/>
          </a:xfrm>
          <a:prstGeom prst="rect">
            <a:avLst/>
          </a:prstGeom>
          <a:noFill/>
          <a:ln w="12600">
            <a:solidFill>
              <a:srgbClr val="8FA4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tIns="90000" rIns="108000" bIns="90000" anchor="t">
            <a:no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# </a:t>
            </a:r>
            <a:r>
              <a:rPr lang="ko-KR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기존 파일의 권한 변경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chmod 640 note.txt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ls -l note.txt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# C API: </a:t>
            </a:r>
            <a:r>
              <a:rPr lang="ko-KR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성공 </a:t>
            </a: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0, </a:t>
            </a:r>
            <a:r>
              <a:rPr lang="ko-KR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실패 </a:t>
            </a: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-1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if (chmod("note.txt", 0640) == -1)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    perror("chmod");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# </a:t>
            </a:r>
            <a:r>
              <a:rPr lang="ko-KR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새 파일의 생성 권한 예시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0666 &amp; ~0022 = 0644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7962840" y="174312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chmod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7962840" y="215280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기존 파일의 권한을 바꾼다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반환값을 확인한다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7962840" y="306720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umask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7962840" y="347652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새 객체 생성 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허용하지 않을 비트를 제거한다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7962840" y="439092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8</a:t>
            </a: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진수 표기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7962840" y="480060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C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의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0640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과 십진수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640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구분한다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628560" y="5924520"/>
            <a:ext cx="109342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생성 권한 계산은 부모 디렉토리에 기본 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ACL</a:t>
            </a: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이 없는 경우입니다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/>
          <p:nvPr/>
        </p:nvSpPr>
        <p:spPr>
          <a:xfrm>
            <a:off x="360000" y="1620000"/>
            <a:ext cx="11520000" cy="0"/>
          </a:xfrm>
          <a:prstGeom prst="line">
            <a:avLst/>
          </a:prstGeom>
          <a:ln w="38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609480" y="7812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실습 </a:t>
            </a: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1: </a:t>
            </a: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파일 속성 확인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628560" y="1743120"/>
            <a:ext cx="6972120" cy="3996000"/>
          </a:xfrm>
          <a:prstGeom prst="rect">
            <a:avLst/>
          </a:prstGeom>
          <a:noFill/>
          <a:ln w="12600">
            <a:solidFill>
              <a:srgbClr val="8FA4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tIns="90000" rIns="108000" bIns="90000" anchor="t">
            <a:no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RUN=$(mktemp -d)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printf 'ABC\n' &gt; "$RUN/note.txt"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mkdir "$RUN/sub"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./mystat "$RUN/note.txt"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./mystat "$RUN/sub"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chmod 640 "$RUN/note.txt"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./mystat "$RUN/note.txt"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./mystat "$RUN/missing"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7962840" y="174312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내용과 크기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7962840" y="215280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ABC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와 개행을 합쳐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4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바이트인지 확인한다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7962840" y="306720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종류와 권한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7962840" y="347652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regular / directory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를 구별하고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권한 변경 전후를 비교한다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7962840" y="439092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실패 경로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7962840" y="480060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없는 경로의 오류 메시지와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비정상 종료 상태를 확인한다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628560" y="5924520"/>
            <a:ext cx="109342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이후 실습도 같은 셸의 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RUN </a:t>
            </a: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디렉토리에서 진행합니다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>
            <a:off x="609480" y="324000"/>
            <a:ext cx="104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540000" y="21600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3400" b="1" u="none" strike="noStrike">
                <a:solidFill>
                  <a:srgbClr val="173C57"/>
                </a:solidFill>
                <a:effectLst/>
                <a:uFillTx/>
                <a:latin typeface="Noto Sans CJK KR"/>
                <a:ea typeface="Noto Sans CJK KR"/>
              </a:rPr>
              <a:t>3</a:t>
            </a:r>
            <a:r>
              <a:rPr lang="ko-KR" sz="3400" b="1" u="none" strike="noStrike">
                <a:solidFill>
                  <a:srgbClr val="173C57"/>
                </a:solidFill>
                <a:effectLst/>
                <a:uFillTx/>
                <a:latin typeface="Noto Sans CJK KR"/>
                <a:ea typeface="Noto Sans CJK KR"/>
              </a:rPr>
              <a:t>부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ko-KR" sz="3400" b="1" u="none" strike="noStrike">
                <a:solidFill>
                  <a:srgbClr val="173C57"/>
                </a:solidFill>
                <a:effectLst/>
                <a:uFillTx/>
                <a:latin typeface="Noto Sans CJK KR"/>
                <a:ea typeface="Noto Sans CJK KR"/>
              </a:rPr>
              <a:t>하드 링크와 심볼릭 링크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628560" y="6515280"/>
            <a:ext cx="9048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540000" y="357444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ko-KR" sz="2400" b="0" u="none" strike="noStrike">
                <a:solidFill>
                  <a:srgbClr val="999999"/>
                </a:solidFill>
                <a:effectLst/>
                <a:uFillTx/>
                <a:latin typeface="Noto Sans CJK KR"/>
                <a:ea typeface="Noto Sans CJK KR"/>
              </a:rPr>
              <a:t>같은 파일에 붙는 이름과 경로를 저장하는 링크를 비교합니다</a:t>
            </a:r>
            <a:r>
              <a:rPr lang="en-US" sz="2400" b="0" u="none" strike="noStrike">
                <a:solidFill>
                  <a:srgbClr val="99999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400" b="0" u="none" strike="noStrike">
              <a:solidFill>
                <a:srgbClr val="99999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609480" y="7812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하드 링크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360000" y="1620000"/>
            <a:ext cx="11520000" cy="0"/>
          </a:xfrm>
          <a:prstGeom prst="line">
            <a:avLst/>
          </a:prstGeom>
          <a:ln w="38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630000" y="1782000"/>
            <a:ext cx="1090800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같은 파일의 다른 이름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630000" y="2170800"/>
            <a:ext cx="1090800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여러 디렉토리 엔트리가 같은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inode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를 가리킨다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630000" y="3078000"/>
            <a:ext cx="1090800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관찰할 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630000" y="3466800"/>
            <a:ext cx="1090800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같은 파일시스템에서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st_ino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가 같고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st_nlink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가 증가한다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630000" y="4374000"/>
            <a:ext cx="1090800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생성 범위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630000" y="4762800"/>
            <a:ext cx="1090800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서로 다른 파일시스템 사이에는 만들 수 없다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디렉토리는 일반적으로 제한한다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628560" y="5924520"/>
            <a:ext cx="109342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명령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: ln old.txt new.txt    C API: link(oldpath, newpath)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/>
          <p:nvPr/>
        </p:nvSpPr>
        <p:spPr>
          <a:xfrm>
            <a:off x="609480" y="7812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심볼릭 링크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360000" y="1620000"/>
            <a:ext cx="11520000" cy="0"/>
          </a:xfrm>
          <a:prstGeom prst="line">
            <a:avLst/>
          </a:prstGeom>
          <a:ln w="38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630000" y="1782000"/>
            <a:ext cx="1090800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다른 경로를 저장하는 파일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630000" y="2170800"/>
            <a:ext cx="1090800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대상을 찾을 때 저장된 경로를 해석한다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별도의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inode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를 가진다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630000" y="3078000"/>
            <a:ext cx="1090800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대상과 수명이 분리됨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630000" y="3466800"/>
            <a:ext cx="1090800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대상이 없어도 링크는 존재할 수 있다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디렉토리나 다른 파일시스템도 가리킨다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630000" y="4374000"/>
            <a:ext cx="1090800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상대 경로의 기준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630000" y="4762800"/>
            <a:ext cx="1090800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상대 대상 경로는 링크가 들어 있는 디렉토리를 기준으로 해석한다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628560" y="5924520"/>
            <a:ext cx="109342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명령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: ln -s target.txt shortcut.txt    C API: symlink(target, linkpath)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360000" y="1620000"/>
            <a:ext cx="11520000" cy="0"/>
          </a:xfrm>
          <a:prstGeom prst="line">
            <a:avLst/>
          </a:prstGeom>
          <a:ln w="38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609480" y="7812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심볼릭 링크에서 </a:t>
            </a: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stat</a:t>
            </a: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과 </a:t>
            </a: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lstat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628560" y="1743120"/>
            <a:ext cx="6972120" cy="3996000"/>
          </a:xfrm>
          <a:prstGeom prst="rect">
            <a:avLst/>
          </a:prstGeom>
          <a:noFill/>
          <a:ln w="12600">
            <a:solidFill>
              <a:srgbClr val="8FA4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tIns="90000" rIns="108000" bIns="90000" anchor="t">
            <a:no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# links.txt</a:t>
            </a:r>
            <a:r>
              <a:rPr lang="ko-KR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는 </a:t>
            </a: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original.txt</a:t>
            </a:r>
            <a:r>
              <a:rPr lang="ko-KR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를 가리키는 </a:t>
            </a: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symlink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stat("links.txt", &amp;st);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/* original.txt</a:t>
            </a:r>
            <a:r>
              <a:rPr lang="ko-KR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의 속성 </a:t>
            </a: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*/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lstat("links.txt", &amp;st);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/* links.txt </a:t>
            </a:r>
            <a:r>
              <a:rPr lang="ko-KR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자체의 속성 </a:t>
            </a: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*/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# original.txt</a:t>
            </a:r>
            <a:r>
              <a:rPr lang="ko-KR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가 없어진 뒤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stat("links.txt", &amp;st);   /* -1, ENOENT */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lstat("links.txt", &amp;st);  /* </a:t>
            </a:r>
            <a:r>
              <a:rPr lang="ko-KR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링크는 조회 가능 </a:t>
            </a: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*/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7962840" y="174312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stat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7962840" y="215280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대상 파일을 따라가므로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대상이 없으면 실패한다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7962840" y="306720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lstat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7962840" y="347652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링크 자체를 조회한다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S_ISLNK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로 판정할 수 있다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7962840" y="439092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오류 처리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7962840" y="480060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실제 코드에서는 모든 호출의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반환값을 검사한다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628560" y="5924520"/>
            <a:ext cx="109342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깨진 링크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: </a:t>
            </a: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링크 파일은 남아 있으나 대상 경로를 해석할 수 없는 상태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/>
          <p:nvPr/>
        </p:nvSpPr>
        <p:spPr>
          <a:xfrm>
            <a:off x="360000" y="1620000"/>
            <a:ext cx="11520000" cy="0"/>
          </a:xfrm>
          <a:prstGeom prst="line">
            <a:avLst/>
          </a:prstGeom>
          <a:ln w="38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609480" y="7812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실습 </a:t>
            </a: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2: </a:t>
            </a: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이름을 삭제한 뒤 비교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628560" y="1743120"/>
            <a:ext cx="6972120" cy="3996000"/>
          </a:xfrm>
          <a:prstGeom prst="rect">
            <a:avLst/>
          </a:prstGeom>
          <a:noFill/>
          <a:ln w="12600">
            <a:solidFill>
              <a:srgbClr val="8FA4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tIns="90000" rIns="108000" bIns="90000" anchor="t">
            <a:no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ln "$RUN/note.txt" "$RUN/hard.txt"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ln -s note.txt "$RUN/soft.txt"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ls -li "$RUN"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./mystat "$RUN/hard.txt"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./mystat "$RUN/soft.txt"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rm "$RUN/note.txt"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cat "$RUN/hard.txt"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cat "$RUN/soft.txt"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./mystat "$RUN/soft.txt"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7962840" y="174312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삭제 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7962840" y="215280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note.txt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와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hard.txt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의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inode,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링크 수를 비교한다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7962840" y="306720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삭제 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7962840" y="347652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hard.txt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로 내용을 읽을 수 있고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soft.txt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는 깨진 링크가 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7962840" y="439092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링크 자체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7962840" y="480060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mystat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은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lstat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을 사용하므로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soft.txt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의 속성은 읽을 수 있다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628560" y="5924520"/>
            <a:ext cx="109342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실습 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1</a:t>
            </a: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에서 생성한 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RUN </a:t>
            </a: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디렉토리 안에서만 실행합니다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/>
          <p:nvPr/>
        </p:nvSpPr>
        <p:spPr>
          <a:xfrm>
            <a:off x="609480" y="7812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unlink</a:t>
            </a: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와 열린 파일의 수명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360000" y="1620000"/>
            <a:ext cx="11520000" cy="0"/>
          </a:xfrm>
          <a:prstGeom prst="line">
            <a:avLst/>
          </a:prstGeom>
          <a:ln w="38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630000" y="1764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unlink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는 디렉토리에서 이름 하나를 제거한다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630000" y="2538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다른 하드 링크가 남아 있으면 다른 이름으로 접근할 수 있다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630000" y="3312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마지막 이름을 지워도 이미 열린 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FD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로 파일을 사용할 수 있다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630000" y="4086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마지막 하드 링크와 열린 참조가 사라지면 저장 공간을 반환할 수 있다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"/>
          <p:cNvSpPr/>
          <p:nvPr/>
        </p:nvSpPr>
        <p:spPr>
          <a:xfrm>
            <a:off x="609480" y="324000"/>
            <a:ext cx="104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540000" y="21600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3400" b="1" u="none" strike="noStrike">
                <a:solidFill>
                  <a:srgbClr val="173C57"/>
                </a:solidFill>
                <a:effectLst/>
                <a:uFillTx/>
                <a:latin typeface="Noto Sans CJK KR"/>
                <a:ea typeface="Noto Sans CJK KR"/>
              </a:rPr>
              <a:t>4</a:t>
            </a:r>
            <a:r>
              <a:rPr lang="ko-KR" sz="3400" b="1" u="none" strike="noStrike">
                <a:solidFill>
                  <a:srgbClr val="173C57"/>
                </a:solidFill>
                <a:effectLst/>
                <a:uFillTx/>
                <a:latin typeface="Noto Sans CJK KR"/>
                <a:ea typeface="Noto Sans CJK KR"/>
              </a:rPr>
              <a:t>부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ko-KR" sz="3400" b="1" u="none" strike="noStrike">
                <a:solidFill>
                  <a:srgbClr val="173C57"/>
                </a:solidFill>
                <a:effectLst/>
                <a:uFillTx/>
                <a:latin typeface="Noto Sans CJK KR"/>
                <a:ea typeface="Noto Sans CJK KR"/>
              </a:rPr>
              <a:t>디렉토리 탐색과 관리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628560" y="6515280"/>
            <a:ext cx="9048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540000" y="357444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ko-KR" sz="2400" b="0" u="none" strike="noStrike">
                <a:solidFill>
                  <a:srgbClr val="999999"/>
                </a:solidFill>
                <a:effectLst/>
                <a:uFillTx/>
                <a:latin typeface="Noto Sans CJK KR"/>
                <a:ea typeface="Noto Sans CJK KR"/>
              </a:rPr>
              <a:t>디렉토리의 이름 목록을 읽고 각 파일의 속성을 조회합니다</a:t>
            </a:r>
            <a:r>
              <a:rPr lang="en-US" sz="2400" b="0" u="none" strike="noStrike">
                <a:solidFill>
                  <a:srgbClr val="99999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400" b="0" u="none" strike="noStrike">
              <a:solidFill>
                <a:srgbClr val="99999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"/>
          <p:cNvSpPr/>
          <p:nvPr/>
        </p:nvSpPr>
        <p:spPr>
          <a:xfrm>
            <a:off x="609480" y="7812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디렉토리 스트림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360000" y="1620000"/>
            <a:ext cx="11520000" cy="0"/>
          </a:xfrm>
          <a:prstGeom prst="line">
            <a:avLst/>
          </a:prstGeom>
          <a:ln w="38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630000" y="1782000"/>
            <a:ext cx="1090800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opendir(path)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630000" y="2170800"/>
            <a:ext cx="1090800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디렉토리를 열어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DIR *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를 얻는다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실패하면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NULL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을 반환한다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630000" y="3078000"/>
            <a:ext cx="1090800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readdir(dir)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630000" y="3466800"/>
            <a:ext cx="1090800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다음 엔트리를 가리키는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struct dirent *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를 얻는다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630000" y="4374000"/>
            <a:ext cx="1090800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closedir(dir)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630000" y="4762800"/>
            <a:ext cx="1090800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디렉토리 스트림을 닫는다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성공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0, 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실패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-1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이다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628560" y="5924520"/>
            <a:ext cx="109342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헤더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: &lt;dirent.h&gt; · readdir</a:t>
            </a: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의 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NULL</a:t>
            </a: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은 끝 또는 오류입니다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>
            <a:off x="360000" y="1620000"/>
            <a:ext cx="11520000" cy="0"/>
          </a:xfrm>
          <a:prstGeom prst="line">
            <a:avLst/>
          </a:prstGeom>
          <a:ln w="38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609480" y="7812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readdir</a:t>
            </a: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의 끝과 오류 구분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628560" y="1743120"/>
            <a:ext cx="6972120" cy="3996000"/>
          </a:xfrm>
          <a:prstGeom prst="rect">
            <a:avLst/>
          </a:prstGeom>
          <a:noFill/>
          <a:ln w="12600">
            <a:solidFill>
              <a:srgbClr val="8FA4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tIns="90000" rIns="108000" bIns="90000" anchor="t">
            <a:no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for (;;) {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    errno = 0;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    struct dirent *ent = readdir(dir);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    if (ent == NULL) {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        if (errno != 0) {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            perror("readdir");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            status = 1;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        }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        break;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    }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    /* ent-&gt;d_name</a:t>
            </a:r>
            <a:r>
              <a:rPr lang="ko-KR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을 처리한다</a:t>
            </a: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. */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}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if (closedir(dir) == -1) {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    perror("closedir"); status = 1;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}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7962840" y="174312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매번 초기화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7962840" y="215280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readdir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를 호출하기 직전에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errno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를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0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으로 만든다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7962840" y="306720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NULL </a:t>
            </a: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판별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7962840" y="347652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errno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가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0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이면 끝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0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이 아니면 오류다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7962840" y="439092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정리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7962840" y="480060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반복문을 끝낸 뒤에는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closedir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를 호출한다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628560" y="5924520"/>
            <a:ext cx="109342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완성 예제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: labs/class04-01/mini_ls.c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"/>
          <p:cNvSpPr/>
          <p:nvPr/>
        </p:nvSpPr>
        <p:spPr>
          <a:xfrm>
            <a:off x="609480" y="7812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디렉토리 엔트리 처리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360000" y="1620000"/>
            <a:ext cx="11520000" cy="0"/>
          </a:xfrm>
          <a:prstGeom prst="line">
            <a:avLst/>
          </a:prstGeom>
          <a:ln w="38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630000" y="1764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d_name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은 디렉토리 안의 이름이다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전체 경로가 아니다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630000" y="2538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다음 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readdir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호출 전에 필요한 이름과 정보를 사용하거나 복사한다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630000" y="3312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반환된 포인터를 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free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하지 않는다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630000" y="4086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d_type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이 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DT_UNKNOWN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일 수 있으므로 속성 조회를 준비한다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630000" y="4860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출력 순서는 정렬되지 않을 수 있다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. .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과 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..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의 처리 정책을 정한다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"/>
          <p:cNvSpPr/>
          <p:nvPr/>
        </p:nvSpPr>
        <p:spPr>
          <a:xfrm>
            <a:off x="360000" y="1620000"/>
            <a:ext cx="11520000" cy="0"/>
          </a:xfrm>
          <a:prstGeom prst="line">
            <a:avLst/>
          </a:prstGeom>
          <a:ln w="38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609480" y="7812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엔트리의 속성 조회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628560" y="1743120"/>
            <a:ext cx="6972120" cy="3996000"/>
          </a:xfrm>
          <a:prstGeom prst="rect">
            <a:avLst/>
          </a:prstGeom>
          <a:noFill/>
          <a:ln w="12600">
            <a:solidFill>
              <a:srgbClr val="8FA4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tIns="90000" rIns="108000" bIns="90000" anchor="t">
            <a:no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struct stat st;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int dfd = dirfd(dir);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if (dfd == -1) {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    perror("dirfd");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    closedir(dir); /* </a:t>
            </a:r>
            <a:r>
              <a:rPr lang="ko-KR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정리 후 실패 반환 </a:t>
            </a: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*/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    return 1;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}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if (fstatat(dfd, ent-&gt;d_name, &amp;st,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            AT_SYMLINK_NOFOLLOW) == -1) {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    perror(ent-&gt;d_name);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    status = 1;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    continue;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}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7962840" y="174312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기준 디렉토리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7962840" y="215280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열린 디렉토리의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FD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기준으로 이름을 찾는다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7962840" y="306720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링크 정책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7962840" y="347652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AT_SYMLINK_NOFOLLOW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마지막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symlink 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자체를 조회한다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7962840" y="439092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개별 실패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7962840" y="480060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실패한 이름을 기록하고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다음 엔트리를 읽는다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628560" y="5924520"/>
            <a:ext cx="109342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dirfd</a:t>
            </a: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는 반복 전에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, fstatat</a:t>
            </a: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은 반복 안에서 호출합니다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/>
          <p:nvPr/>
        </p:nvSpPr>
        <p:spPr>
          <a:xfrm>
            <a:off x="609480" y="7812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디렉토리 생성과 삭제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360000" y="1620000"/>
            <a:ext cx="11520000" cy="0"/>
          </a:xfrm>
          <a:prstGeom prst="line">
            <a:avLst/>
          </a:prstGeom>
          <a:ln w="38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630000" y="1782000"/>
            <a:ext cx="1090800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mkdir(path, mode)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630000" y="2170800"/>
            <a:ext cx="1090800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새 디렉토리를 만든다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생성 권한에는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umask 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등의 조건이 적용된다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630000" y="3078000"/>
            <a:ext cx="1090800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rmdir(path)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630000" y="3466800"/>
            <a:ext cx="1090800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비어 있는 디렉토리를 삭제한다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안에 항목이 있으면 실패한다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630000" y="4374000"/>
            <a:ext cx="1090800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결과 확인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630000" y="4762800"/>
            <a:ext cx="1090800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두 함수 모두 성공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0, 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실패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-1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이다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 errno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로 실패 원인을 확인한다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628560" y="5924520"/>
            <a:ext cx="109342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헤더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: mkdir</a:t>
            </a: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는 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&lt;sys/stat.h&gt;, rmdir</a:t>
            </a: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는 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&lt;unistd.h&gt;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"/>
          <p:cNvSpPr/>
          <p:nvPr/>
        </p:nvSpPr>
        <p:spPr>
          <a:xfrm>
            <a:off x="360000" y="1620000"/>
            <a:ext cx="11520000" cy="0"/>
          </a:xfrm>
          <a:prstGeom prst="line">
            <a:avLst/>
          </a:prstGeom>
          <a:ln w="38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609480" y="7812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현재 작업 디렉토리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628560" y="1743120"/>
            <a:ext cx="6972120" cy="3996000"/>
          </a:xfrm>
          <a:prstGeom prst="rect">
            <a:avLst/>
          </a:prstGeom>
          <a:noFill/>
          <a:ln w="12600">
            <a:solidFill>
              <a:srgbClr val="8FA4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tIns="90000" rIns="108000" bIns="90000" anchor="t">
            <a:no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char cwd[4096];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if (getcwd(cwd, sizeof cwd) == NULL) {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    perror("getcwd");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    return 1;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}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puts(cwd);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if (chdir("sub") == -1) {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    perror("chdir");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    return 1;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}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7962840" y="174312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getcwd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7962840" y="215280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현재 작업 디렉토리의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절대 경로를 얻는다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7962840" y="306720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chdir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7962840" y="347652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현재 프로세스의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작업 디렉토리를 바꾼다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7962840" y="439092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영향 범위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7962840" y="480060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이후 상대 경로의 기준이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바뀐다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부모 셸은 바뀌지 않는다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628560" y="5924520"/>
            <a:ext cx="109342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헤더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: &lt;unistd.h&gt; · </a:t>
            </a: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경로 버퍼가 부족한 경우도 오류로 처리합니다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"/>
          <p:cNvSpPr/>
          <p:nvPr/>
        </p:nvSpPr>
        <p:spPr>
          <a:xfrm>
            <a:off x="360000" y="1620000"/>
            <a:ext cx="11520000" cy="0"/>
          </a:xfrm>
          <a:prstGeom prst="line">
            <a:avLst/>
          </a:prstGeom>
          <a:ln w="38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609480" y="7812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실습 </a:t>
            </a: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3: </a:t>
            </a: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작은 </a:t>
            </a: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ls </a:t>
            </a: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실행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628560" y="1743120"/>
            <a:ext cx="6972120" cy="3996000"/>
          </a:xfrm>
          <a:prstGeom prst="rect">
            <a:avLst/>
          </a:prstGeom>
          <a:noFill/>
          <a:ln w="12600">
            <a:solidFill>
              <a:srgbClr val="8FA4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tIns="90000" rIns="108000" bIns="90000" anchor="t">
            <a:no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touch "$RUN/.hidden"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printf 'hello\n' &gt; "$RUN/space name.txt"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./mini_ls "$RUN"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./mini_ls "$RUN/sub"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./mini_ls "$RUN/space name.txt"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./mini_ls "$RUN/missing"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# Ubuntu</a:t>
            </a:r>
            <a:r>
              <a:rPr lang="ko-KR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에서 시스템 호출 관찰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strace -e openat,getdents64,newfstatat,close \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72D40"/>
                </a:solidFill>
                <a:effectLst/>
                <a:uFillTx/>
                <a:latin typeface="Noto Sans Mono CJK KR"/>
                <a:ea typeface="Noto Sans Mono CJK KR"/>
              </a:rPr>
              <a:t>  ./mini_ls "$RUN"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7962840" y="174312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정상 입력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7962840" y="215280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하위 이름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종류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크기를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출력하는지 확인한다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7962840" y="306720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경계 입력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7962840" y="347652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빈 디렉토리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숨김 파일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공백이 있는 이름을 확인한다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7962840" y="4390920"/>
            <a:ext cx="3580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실패 입력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7962840" y="4800600"/>
            <a:ext cx="3580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일반 파일과 없는 경로를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ko-KR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인자로 주어 오류를 확인한다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628560" y="5924520"/>
            <a:ext cx="109342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출력 순서와 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inode </a:t>
            </a: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번호는 환경에 따라 달라집니다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"/>
          <p:cNvSpPr/>
          <p:nvPr/>
        </p:nvSpPr>
        <p:spPr>
          <a:xfrm>
            <a:off x="609480" y="7812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확인 퀴즈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360000" y="1620000"/>
            <a:ext cx="11520000" cy="0"/>
          </a:xfrm>
          <a:prstGeom prst="line">
            <a:avLst/>
          </a:prstGeom>
          <a:ln w="38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630000" y="1764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하드 링크 두 개는 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inode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와 파일 내용을 어떻게 공유하는가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630000" y="2538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깨진 심볼릭 링크에 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stat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과 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lstat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을 호출하면 어떻게 다른가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630000" y="3312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디렉토리의 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x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권한은 어떤 동작에 필요한가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630000" y="4086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readdir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가 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NULL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을 반환했을 때 어떤 값을 더 확인해야 하는가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630000" y="4860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파일 이름을 삭제한 뒤에도 열린 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FD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로 읽을 수 있는 이유는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"/>
          <p:cNvSpPr/>
          <p:nvPr/>
        </p:nvSpPr>
        <p:spPr>
          <a:xfrm>
            <a:off x="609480" y="781200"/>
            <a:ext cx="10972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ko-KR" sz="3300" b="1" u="none" strike="noStrike">
                <a:solidFill>
                  <a:srgbClr val="111111"/>
                </a:solidFill>
                <a:effectLst/>
                <a:uFillTx/>
                <a:latin typeface="Noto Sans CJK KR"/>
                <a:ea typeface="Noto Sans CJK KR"/>
              </a:rPr>
              <a:t>실습 정리와 제출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360000" y="1620000"/>
            <a:ext cx="11520000" cy="0"/>
          </a:xfrm>
          <a:prstGeom prst="line">
            <a:avLst/>
          </a:prstGeom>
          <a:ln w="38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630000" y="1764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mystat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으로 종류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, inode,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링크 수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권한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크기를 확인한다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630000" y="2538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링크 생성 전후와 이름 삭제 전후의 결과를 비교한다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630000" y="3312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mini_ls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에서 디렉토리 끝과 오류를 구분한다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630000" y="4086000"/>
            <a:ext cx="10908000" cy="565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코드와 실행 로그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관찰한 차이를 설명하는 글을 제출한다</a:t>
            </a:r>
            <a:r>
              <a:rPr lang="en-US" sz="2400" b="0" u="none" strike="noStrike">
                <a:solidFill>
                  <a:srgbClr val="23384B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628560" y="5924520"/>
            <a:ext cx="109342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파일 내용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파일 속성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파일 이름의 관계를 구분해 설명합니다</a:t>
            </a:r>
            <a:r>
              <a:rPr lang="en-US" sz="1580" b="0" u="none" strike="noStrike">
                <a:solidFill>
                  <a:srgbClr val="666666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LibreOfficeDev/26.8.0.0.alpha0$MacOSX_AARCH64 LibreOffice_project/2c87e51eeaa2b413ff4ae097b2705eea1995d8e5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2026-09-07T01:56:31Z</dcterms:created>
  <dc:creator>Walnut Exporter</dc:creator>
  <dc:description/>
  <dc:language>ko-KR</dc:language>
  <cp:lastModifiedBy/>
  <cp:lastPrinted>2026-09-08T15:02:44Z</cp:lastPrinted>
  <dcterms:modified xsi:type="dcterms:W3CDTF">2026-09-08T15:07:16Z</dcterms:modified>
  <cp:revision>2</cp:revision>
  <dc:subject/>
  <dc:title>4주차 첫 번째 수업 · 리눅스 파일과 디렉토리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